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D6B"/>
          </a:solidFill>
          <a:ln w="12700">
            <a:solidFill>
              <a:srgbClr val="1E4D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76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PI-DON reproduction | 2026-09-17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955280" y="6547104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76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证据优先：工程交付 ≠ 科学复现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PI-DON 论文复现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FE6EF"/>
                </a:solidFill>
              </a:rPr>
              <a:t>从“学习旋度算子”到“逐时间步在线适配”的证据链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2743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7432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852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阶段一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3182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平面波监督学习 curl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72968" y="32004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01568" y="2743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01568" y="27432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852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固定权重审计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3182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网络是否真的学到算子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0176" y="32004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08776" y="2743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8776" y="27432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3368" y="2852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阶段二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73368" y="3182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Maxwell 残差在线训练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787384" y="32004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15984" y="2743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15984" y="27432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0576" y="2852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场门验收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0576" y="3182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与 Yee 参考场比较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8368" y="4892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D6A3"/>
                </a:solidFill>
              </a:rPr>
              <a:t>当前结论：算子学习有证据；在线预训练收益未被支持；论文显式参考线已独立建立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8368" y="5989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BD5"/>
                </a:solidFill>
              </a:rPr>
              <a:t>汇报日期：2026-09-17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汇报导航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导师真正会追问的三个问题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3429000" cy="42519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64008" cy="42519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2527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6F93"/>
                </a:solidFill>
              </a:rPr>
              <a:t>1. 电磁上做了什么？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3136392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DCO 替代的是离散旋度计算，不是直接替代整个 Maxwell 方程；边界、源、时间更新仍需显式处理。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70832" y="1143000"/>
            <a:ext cx="3429000" cy="42519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143000"/>
            <a:ext cx="64008" cy="425196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2527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AA7A3"/>
                </a:solidFill>
              </a:rPr>
              <a:t>2. AI 到底学了什么？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35424" y="1581912"/>
            <a:ext cx="3136392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阶段一学“场 + 坐标 → curl 场”的映射；阶段二每个半步再用物理残差适配网络参数。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01584" y="1143000"/>
            <a:ext cx="3429000" cy="42519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1584" y="1143000"/>
            <a:ext cx="64008" cy="42519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12527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07A35"/>
                </a:solidFill>
              </a:rPr>
              <a:t>3. 结果是否支持方向？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66176" y="1581912"/>
            <a:ext cx="3136392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固定权重 DCO 显著优于随机网络；但在线 128 步预训练没有降低成本，且真实场门失败。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来源：本项目当前证据总览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逻辑总图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一句话逻辑链：不要把四种“误差”混成一个结论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430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解析平面波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构造 E 与解析 curl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72968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01568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01568" y="11430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阶段一 DCO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监督拟合局部算子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0176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08776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8776" y="11430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3368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阶段二残差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73368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每半步拟合当前 curl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787384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15984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15984" y="11430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0576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Yee 场门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0576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检验递推后的真实场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2960" y="2743200"/>
            <a:ext cx="10515600" cy="594360"/>
          </a:xfrm>
          <a:prstGeom prst="chevron">
            <a:avLst/>
          </a:prstGeom>
          <a:solidFill>
            <a:srgbClr val="DDEAF0"/>
          </a:solidFill>
          <a:ln w="12700">
            <a:solidFill>
              <a:srgbClr val="BCD0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2916936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B55"/>
                </a:solidFill>
              </a:rPr>
              <a:t>训练损失小  →  单步 curl 接近  →  Maxwell 更新接近  →  多步场仍可能累积偏差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4400" y="3794760"/>
            <a:ext cx="48006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3794760"/>
            <a:ext cx="64008" cy="13258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390448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必要但非充分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78992" y="4233672"/>
            <a:ext cx="450799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单步残差过门并不保证相位、分量比例和长期递推都正确。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46520" y="3794760"/>
            <a:ext cx="48006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3794760"/>
            <a:ext cx="64008" cy="132588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11112" y="390448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验收必须分层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611112" y="4233672"/>
            <a:ext cx="450799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算子精度、在线残差、六分量场误差、源外探针和长时频谱分别回答不同问题。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来源：AGENTS.md 科学红线；当前项目验收合同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论文方法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复现对象不是一个网络，而是一套两阶段求解机制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521208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51560"/>
            <a:ext cx="64008" cy="44805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1612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阶段一：Deep Curl Operator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490472"/>
            <a:ext cx="491947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输入：E/H 三分量场 + 对应空间坐标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输出：curl(E) 或 curl(H) 三分量场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训练：解析平面波监督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目的：获得可迁移的旋度算子初始化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051560"/>
            <a:ext cx="521208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051560"/>
            <a:ext cx="64008" cy="44805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1612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阶段二：PI-DON 时间推进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19672" y="1490472"/>
            <a:ext cx="491947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每个时间半步：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1) 用 Maxwell 离散目标训练当前 DCO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2) 达到残差门后更新 E/H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3) 施加源与边界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4) 进入下一半步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40680" y="3246120"/>
            <a:ext cx="1033272" cy="0"/>
          </a:xfrm>
          <a:prstGeom prst="line">
            <a:avLst/>
          </a:prstGeom>
          <a:noFill/>
          <a:ln w="38100">
            <a:solidFill>
              <a:srgbClr val="E07A3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67528" y="2697480"/>
            <a:ext cx="1188720" cy="310896"/>
          </a:xfrm>
          <a:prstGeom prst="round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04104" y="2761488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权重初始化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来源：Qi &amp; Sarris (2025), Sections III-A–III-C, Algorithm 1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电磁理论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Maxwell 旋度方程决定了时间推进的骨架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6F93"/>
                </a:solidFill>
              </a:rPr>
              <a:t>Faraday 定律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746"/>
                </a:solidFill>
              </a:rPr>
              <a:t>∂H/∂t = − μ⁻¹ ∇×E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6364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8A67"/>
                </a:solidFill>
              </a:rPr>
              <a:t>Ampère–Maxwell 定律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1600200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746"/>
                </a:solidFill>
              </a:rPr>
              <a:t>∂E/∂t = ε⁻¹(∇×H − J)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9718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已知 Eⁿ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8952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求 curl(Eⁿ)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72968" y="34290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01568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01568" y="29718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更新 Hⁿ⁺¹ᐟ²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跨半个时间步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80176" y="34290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08776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8776" y="29718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3368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求 curl(Hⁿ⁺¹ᐟ²)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73368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作为 E 的驱动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787384" y="34290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15984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15984" y="29718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0576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更新 Eⁿ⁺¹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80576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叠加源与边界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60120" y="4617720"/>
            <a:ext cx="1014984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" y="4617720"/>
            <a:ext cx="64008" cy="96012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24712" y="472744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DCO 的位置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24712" y="5056632"/>
            <a:ext cx="985723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它替换上面两个“求 curl”的算子调用；时间离散、材料参数、源和边界仍在求解器中。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来源：Maxwell 时域旋度方程；论文 Algorithm 1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电磁理论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旋度不是“一个点的值”，而是局部环量密度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005840"/>
            <a:ext cx="4937760" cy="489204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cc11fc941c1b81fd237eda5c00a370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649266"/>
            <a:ext cx="4937760" cy="16051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1143000"/>
            <a:ext cx="54406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89320" y="1143000"/>
            <a:ext cx="64008" cy="123444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53912" y="125272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(∇×E)x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153912" y="1581912"/>
            <a:ext cx="51480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∂Ez/∂y − ∂Ey/∂z：围绕 x 法向小面的环量。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89320" y="2697480"/>
            <a:ext cx="54406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89320" y="2697480"/>
            <a:ext cx="64008" cy="123444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53912" y="280720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(∇×E)y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153912" y="3136392"/>
            <a:ext cx="51480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∂Ex/∂z − ∂Ez/∂x：围绕 y 法向小面的环量。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989320" y="4251960"/>
            <a:ext cx="54406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89320" y="4251960"/>
            <a:ext cx="64008" cy="123444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53912" y="436168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(∇×E)z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153912" y="4690872"/>
            <a:ext cx="51480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∂Ey/∂x − ∂Ex/∂y：围绕 z 法向小面的环量。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来源：汇报素材/cc11fc...png；连续旋度定义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电磁理论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Yee 网格：E 与 H 分量本来就不在同一空间位置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960120"/>
            <a:ext cx="5669280" cy="5074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Yee单位网格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68607"/>
            <a:ext cx="5669280" cy="325794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75120" y="1143000"/>
            <a:ext cx="46634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5120" y="1143000"/>
            <a:ext cx="64008" cy="109728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39712" y="12527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交错放置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39712" y="1581912"/>
            <a:ext cx="43708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Ex、Ey、Ez 位于不同边；Hx、Hy、Hz 位于不同面。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75120" y="2560320"/>
            <a:ext cx="46634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75120" y="2560320"/>
            <a:ext cx="64008" cy="109728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39712" y="2670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离散旋度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839712" y="2999232"/>
            <a:ext cx="43708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每个 curl 分量由环绕对应面的四条边场差分得到。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75120" y="3977640"/>
            <a:ext cx="46634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75120" y="3977640"/>
            <a:ext cx="64008" cy="10972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39712" y="40873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为什么六分量分别验收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839712" y="4416552"/>
            <a:ext cx="43708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支撑域、参考峰值和物理作用都不同；全局平均可掩盖某一分量超标。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来源：汇报素材/Yee单位网格.png；Yee 1966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电磁理论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传统 FDTD：旋度差分 + 时间交错更新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932688"/>
            <a:ext cx="6492240" cy="5166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时域差分求解公式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627404"/>
            <a:ext cx="6492240" cy="177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60920" y="1143000"/>
            <a:ext cx="41605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60920" y="1143000"/>
            <a:ext cx="64008" cy="123444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25512" y="12527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第一半步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525512" y="1581912"/>
            <a:ext cx="38679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由 Eⁿ 的空间差分更新 Hⁿ⁺¹ᐟ²。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60920" y="2788920"/>
            <a:ext cx="41605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60920" y="2788920"/>
            <a:ext cx="64008" cy="123444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25512" y="28986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第二半步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525512" y="3227832"/>
            <a:ext cx="38679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由 Hⁿ⁺¹ᐟ² 的空间差分更新 Eⁿ⁺¹。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60920" y="4434840"/>
            <a:ext cx="41605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60920" y="4434840"/>
            <a:ext cx="64008" cy="123444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25512" y="45445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PI-DON 改动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525512" y="4873752"/>
            <a:ext cx="38679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用神经算子输出替代差分 curl，但不删除上述时间更新。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来源：汇报素材/时域差分求解公式.png；项目 src/pidon/fdtd.py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电磁理论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CFL 条件仍然约束时间步长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4937760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CFL极限定义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428997"/>
            <a:ext cx="4937760" cy="163424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0" y="1143000"/>
            <a:ext cx="50749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72200" y="1143000"/>
            <a:ext cx="64008" cy="123444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36792" y="12527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稳定性来源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336792" y="1581912"/>
            <a:ext cx="47823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电磁波每个时间步不能跨越过多网格；这是显式时间积分的数值稳定条件。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2743200"/>
            <a:ext cx="50749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72200" y="2743200"/>
            <a:ext cx="64008" cy="123444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36792" y="28529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DCO 不自动消除 CFL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36792" y="3182112"/>
            <a:ext cx="47823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即使 curl 由网络给出，E/H 仍按显式离散式推进。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72200" y="4343400"/>
            <a:ext cx="50749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72200" y="4343400"/>
            <a:ext cx="64008" cy="10515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36792" y="44531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当前基线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36792" y="4782312"/>
            <a:ext cx="478231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43746"/>
                </a:solidFill>
              </a:rPr>
              <a:t>n=31 间隔、50 mm 腔体、dt=3.075 ps；均作为实现合同记录。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来源：汇报素材/CFL极限定义.png；当前 solver 配置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AI 与物理接口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DCO 的输入输出：场和坐标进去，旋度场出来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28600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64008" cy="15087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35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Branch 输入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764792"/>
            <a:ext cx="1993392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E(x,y,z)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3 × Nx × Ny × Nz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228600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657600"/>
            <a:ext cx="64008" cy="150876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767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Trunk 输入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4096512"/>
            <a:ext cx="1993392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(x,y,z) 坐标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3 × Nx × Ny × Nz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069080" y="2148840"/>
            <a:ext cx="324612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69080" y="2148840"/>
            <a:ext cx="64008" cy="2057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33672" y="22585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双编码器 + Hadamard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33672" y="2587752"/>
            <a:ext cx="2953512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分别提取“场模式”和“空间位置模式”，逐层相乘后解码。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58200" y="2148840"/>
            <a:ext cx="297180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58200" y="2148840"/>
            <a:ext cx="64008" cy="2057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22792" y="22585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输出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22792" y="2587752"/>
            <a:ext cx="2679192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746"/>
                </a:solidFill>
              </a:rPr>
              <a:t>curl(E)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746"/>
                </a:solidFill>
              </a:rPr>
              <a:t>3 × Nx × Ny × Nz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926080" y="2084832"/>
            <a:ext cx="1143000" cy="612648"/>
          </a:xfrm>
          <a:prstGeom prst="line">
            <a:avLst/>
          </a:prstGeom>
          <a:noFill/>
          <a:ln w="2794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926080" y="4407408"/>
            <a:ext cx="1143000" cy="-749808"/>
          </a:xfrm>
          <a:prstGeom prst="line">
            <a:avLst/>
          </a:prstGeom>
          <a:noFill/>
          <a:ln w="2794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15200" y="3182112"/>
            <a:ext cx="1143000" cy="0"/>
          </a:xfrm>
          <a:prstGeom prst="line">
            <a:avLst/>
          </a:prstGeom>
          <a:noFill/>
          <a:ln w="2794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097280" y="56235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55"/>
                </a:solidFill>
              </a:rPr>
              <a:t>不是选取空间中的一个点训练：每个样本包含整个 32³ 网格上的三分量输入与三分量解析 curl 目标。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Section III-A；_01/src/paper01/model.py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AI 工作原理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为什么叫 Deep Operator Network，而不只是 CNN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3375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097280"/>
            <a:ext cx="64008" cy="141732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2070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Branch：函数值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1536192"/>
            <a:ext cx="304495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接收某个离散电磁场样本，编码“场长什么样”。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3657600"/>
            <a:ext cx="33375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657600"/>
            <a:ext cx="64008" cy="141732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7673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Trunk：查询位置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6112" y="4096512"/>
            <a:ext cx="304495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接收对应空间坐标，编码“在哪里求算子输出”。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54880" y="2057400"/>
            <a:ext cx="256032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2057400"/>
            <a:ext cx="64008" cy="201168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2167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逐层相乘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19472" y="2496312"/>
            <a:ext cx="226771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Branch ⊙ Trunk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场特征 × 位置特征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2057400"/>
            <a:ext cx="333756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2057400"/>
            <a:ext cx="64008" cy="20116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21671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解码为函数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57032" y="2496312"/>
            <a:ext cx="304495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对整个网格同时输出三分量旋度场。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069080" y="1810512"/>
            <a:ext cx="685800" cy="886968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069080" y="4370832"/>
            <a:ext cx="685800" cy="-969264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15200" y="3063240"/>
            <a:ext cx="77724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965960" y="5349240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65960" y="5349240"/>
            <a:ext cx="64008" cy="64008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30552" y="54589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9504D"/>
                </a:solidFill>
              </a:rPr>
              <a:t>可换网格的前提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30552" y="5788152"/>
            <a:ext cx="79369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746"/>
                </a:solidFill>
              </a:rPr>
              <a:t>卷积核不依赖固定网格点数，但坐标范围、物理尺度与训练分布仍会影响泛化。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Section III-A；DeepONet 概念在本项目中的具体实现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网络内部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四层 DCO：每一层的张量如何变化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600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64008" cy="132588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344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Level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1673352"/>
            <a:ext cx="130759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32 通道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32³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94560" y="1874520"/>
            <a:ext cx="576072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88920" y="1234440"/>
            <a:ext cx="1600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1234440"/>
            <a:ext cx="64008" cy="132588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53512" y="1344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Level 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53512" y="1673352"/>
            <a:ext cx="130759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64 通道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16³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1874520"/>
            <a:ext cx="576072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983480" y="1234440"/>
            <a:ext cx="1600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83480" y="1234440"/>
            <a:ext cx="64008" cy="132588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48072" y="1344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Level 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8072" y="1673352"/>
            <a:ext cx="130759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128 通道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8³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1874520"/>
            <a:ext cx="576072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178040" y="1234440"/>
            <a:ext cx="1600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1234440"/>
            <a:ext cx="64008" cy="13258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42632" y="13441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Level 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42632" y="1673352"/>
            <a:ext cx="130759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256 通道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4³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372600" y="1234440"/>
            <a:ext cx="21031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72600" y="1234440"/>
            <a:ext cx="64008" cy="132588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37192" y="1344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融合底部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37192" y="1673352"/>
            <a:ext cx="181051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Branch ⊙ Trunk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256 × 4³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778240" y="1874520"/>
            <a:ext cx="59436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372600" y="3703320"/>
            <a:ext cx="1600200" cy="914400"/>
          </a:xfrm>
          <a:prstGeom prst="roundRect">
            <a:avLst/>
          </a:prstGeom>
          <a:solidFill>
            <a:srgbClr val="EAF3F5"/>
          </a:solidFill>
          <a:ln w="15240">
            <a:solidFill>
              <a:srgbClr val="3AA7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45752" y="39867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746"/>
                </a:solidFill>
              </a:rPr>
              <a:t>256×4³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281160" y="4160520"/>
            <a:ext cx="-457200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178040" y="3703320"/>
            <a:ext cx="1600200" cy="914400"/>
          </a:xfrm>
          <a:prstGeom prst="roundRect">
            <a:avLst/>
          </a:prstGeom>
          <a:solidFill>
            <a:srgbClr val="EAF3F5"/>
          </a:solidFill>
          <a:ln w="15240">
            <a:solidFill>
              <a:srgbClr val="3AA7A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51192" y="39867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746"/>
                </a:solidFill>
              </a:rPr>
              <a:t>128×8³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86600" y="4160520"/>
            <a:ext cx="-457200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983480" y="3703320"/>
            <a:ext cx="1600200" cy="914400"/>
          </a:xfrm>
          <a:prstGeom prst="roundRect">
            <a:avLst/>
          </a:prstGeom>
          <a:solidFill>
            <a:srgbClr val="EAF3F5"/>
          </a:solidFill>
          <a:ln w="15240">
            <a:solidFill>
              <a:srgbClr val="3AA7A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56632" y="39867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746"/>
                </a:solidFill>
              </a:rPr>
              <a:t>64×16³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92040" y="4160520"/>
            <a:ext cx="-457200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788920" y="3703320"/>
            <a:ext cx="1600200" cy="914400"/>
          </a:xfrm>
          <a:prstGeom prst="roundRect">
            <a:avLst/>
          </a:prstGeom>
          <a:solidFill>
            <a:srgbClr val="EAF3F5"/>
          </a:solidFill>
          <a:ln w="15240">
            <a:solidFill>
              <a:srgbClr val="3AA7A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62072" y="39867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746"/>
                </a:solidFill>
              </a:rPr>
              <a:t>32×32³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697480" y="4160520"/>
            <a:ext cx="-457200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94360" y="3703320"/>
            <a:ext cx="1600200" cy="914400"/>
          </a:xfrm>
          <a:prstGeom prst="roundRect">
            <a:avLst/>
          </a:prstGeom>
          <a:solidFill>
            <a:srgbClr val="FFE8D6"/>
          </a:solidFill>
          <a:ln w="15240">
            <a:solidFill>
              <a:srgbClr val="E07A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" y="398678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746"/>
                </a:solidFill>
              </a:rPr>
              <a:t>3×32³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14400" y="516636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B55"/>
                </a:solidFill>
              </a:rPr>
              <a:t>下采样提取大尺度模式；上采样恢复空间分辨率；同层 skip 保留局部细节。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Section III-A；src/pidon/dco.py；_01/src/paper01/model.py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网络内部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逐层输入输出清单：导师可以按张量检查</a:t>
            </a:r>
            <a:endParaRPr lang="en-US" sz="2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51560"/>
          <a:ext cx="10972800" cy="438912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  <a:gridCol w="3840480"/>
                <a:gridCol w="2468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Branch L1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E: 3×32³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2×Conv3D + GELU + residual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Trunk L1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坐标: 3×32³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同构独立编码器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L2–L4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上一层 + MaxPool 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通道翻倍、尺寸减半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64×16³ → 256×4³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融合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Branch_i, Trunk_i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Hadamard 逐元素乘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每层融合特征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Decoder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底部融合 + skip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转置卷积 + residual block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Head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1×1×1 Conv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curl: 3×32³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51560" y="5486400"/>
            <a:ext cx="100584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51560" y="5486400"/>
            <a:ext cx="64008" cy="5943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6152" y="559612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07A35"/>
                </a:solidFill>
              </a:rPr>
              <a:t>关键点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16152" y="5925312"/>
            <a:ext cx="9765792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746"/>
                </a:solidFill>
              </a:rPr>
              <a:t>三输出通道分别对应 curl_x、curl_y、curl_z，不是 x/y/z 坐标本身。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来源：网络源码与论文架构文字逐项对照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阶段一训练数据：不是测量数据，而是可解析平面波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914400"/>
            <a:ext cx="5303520" cy="52120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平面波输入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15737"/>
            <a:ext cx="5303520" cy="340940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1430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采样方向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8952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θ∈[0,π], φ∈[-π,π]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72968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401568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01568" y="11430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66160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采样波数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566160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k∈[0,1048] rad/m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980176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208776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08776" y="11430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73368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采样幅度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73368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Ex,Ey∈[0,5]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787384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015984" y="11430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015984" y="11430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80576" y="12527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解析生成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180576" y="15819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E 与 curl(E)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263640" y="2743200"/>
            <a:ext cx="50749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63640" y="2743200"/>
            <a:ext cx="64008" cy="123444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28232" y="28529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每个样本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428232" y="3182112"/>
            <a:ext cx="47823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整个 32³ 网格 × 3 个场分量；不是只取一个空间点。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263640" y="4343400"/>
            <a:ext cx="50749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4343400"/>
            <a:ext cx="64008" cy="123444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28232" y="44531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为什么用平面波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428232" y="4782312"/>
            <a:ext cx="478231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其旋度可由 k×E₀ 解析得到，监督标签无 FDTD 离散误差。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Section III-C；汇报素材/平面波输入.webp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平面波约束：振幅必须与传播方向正交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5"/>
                </a:solidFill>
              </a:rPr>
              <a:t>E(r) = Σ E₀,m cos(km·r)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92240" y="1143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8A67"/>
                </a:solidFill>
              </a:rPr>
              <a:t>km · E₀,m = 0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324612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57400"/>
            <a:ext cx="64008" cy="25146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1671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采样 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2496312"/>
            <a:ext cx="2953512" cy="1984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先采样 θ、φ 得到单位传播方向 k̂。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80560" y="2057400"/>
            <a:ext cx="324612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2057400"/>
            <a:ext cx="64008" cy="25146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21671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采样 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5152" y="2496312"/>
            <a:ext cx="2953512" cy="1984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采样 Ex、Ey 幅值，再由横向条件确定第三分量。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0" y="2057400"/>
            <a:ext cx="324612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057400"/>
            <a:ext cx="64008" cy="25146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21671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物理意义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94192" y="2496312"/>
            <a:ext cx="2953512" cy="1984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无源均匀介质中的平面电磁波为横波。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977640" y="3310128"/>
            <a:ext cx="50292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26680" y="3310128"/>
            <a:ext cx="50292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143000" y="5074920"/>
            <a:ext cx="987552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3000" y="5074920"/>
            <a:ext cx="64008" cy="6858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07592" y="518464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07A35"/>
                </a:solidFill>
              </a:rPr>
              <a:t>当前不确定项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07592" y="5513832"/>
            <a:ext cx="9582912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746"/>
                </a:solidFill>
              </a:rPr>
              <a:t>论文没有公开每个训练样本包含多少个波、相位和复数转实数约定；这些必须登记为 ASSUMED。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Eq.(2) 与 Section III-C；_01/paper_contract.json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解析标签怎么得到：对平面波直接求导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11887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3B55"/>
                </a:solidFill>
              </a:rPr>
              <a:t>∇×[E₀ cos(k·r)] = −(k×E₀) sin(k·r)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14884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25856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输入参数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8952" y="258775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k、E₀、网格坐标 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72968" y="260604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01568" y="214884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01568" y="214884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25856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相位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58775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φ = k·r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0176" y="260604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08776" y="214884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08776" y="214884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225856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叉乘幅值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73368" y="258775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k × E₀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787384" y="260604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15984" y="214884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15984" y="214884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0576" y="225856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解析 curl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80576" y="258775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−(k×E₀) sinφ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68680" y="3886200"/>
            <a:ext cx="48920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3886200"/>
            <a:ext cx="64008" cy="132588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3272" y="399592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训练比较对象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33272" y="4325112"/>
            <a:ext cx="459943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网络输出的三个 curl 分量 vs 上式在每个网格位置的解析值。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0" y="3886200"/>
            <a:ext cx="48920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3886200"/>
            <a:ext cx="64008" cy="13258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5392" y="399592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边界是否参与阶段一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565392" y="4325112"/>
            <a:ext cx="459943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没有：平面波算子数据不包含腔体 PEC；边界在阶段二求解问题中处理。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来源：解析向量微积分；scripts/experiments/phase1_full_run.py；_01/data.py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一个阶段一样本，从输入到标签的完整形状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24688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51560"/>
            <a:ext cx="64008" cy="141732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161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参数记录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490472"/>
            <a:ext cx="21762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d=(dx,dy,dz)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θ, φ, 20个k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20组振幅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24688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794760"/>
            <a:ext cx="64008" cy="141732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9044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坐标网格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4233672"/>
            <a:ext cx="21762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x,y,z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3 × 32 × 32 × 32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23360" y="1051560"/>
            <a:ext cx="29260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051560"/>
            <a:ext cx="64008" cy="141732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87952" y="11612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Branch 张量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87952" y="1490472"/>
            <a:ext cx="26334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E=(Ex,Ey,Ez)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3 × 32³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23360" y="3794760"/>
            <a:ext cx="29260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3794760"/>
            <a:ext cx="64008" cy="141732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87952" y="39044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Trunk 张量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87952" y="4233672"/>
            <a:ext cx="26334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位置坐标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3 × 32³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0" y="2423160"/>
            <a:ext cx="301752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2423160"/>
            <a:ext cx="64008" cy="16002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94192" y="2532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监督标签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94192" y="2862072"/>
            <a:ext cx="2724912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curl(E)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3 × 32³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每分量局部归一化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108960" y="1755648"/>
            <a:ext cx="91440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108960" y="4498848"/>
            <a:ext cx="91440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949440" y="1755648"/>
            <a:ext cx="1280160" cy="1216152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949440" y="4498848"/>
            <a:ext cx="1280160" cy="-1024128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来源：论文显式参数 + _01 冻结假设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关键对比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论文、既有主线与 `_01`：哪些相同，哪些只是工程替代</a:t>
            </a:r>
            <a:endParaRPr lang="en-US" sz="2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11384280" cy="5074920"/>
        </p:xfrm>
        <a:graphic>
          <a:graphicData uri="http://schemas.openxmlformats.org/drawingml/2006/table">
            <a:tbl>
              <a:tblPr/>
              <a:tblGrid>
                <a:gridCol w="1463040"/>
                <a:gridCol w="2286000"/>
                <a:gridCol w="2286000"/>
                <a:gridCol w="2194560"/>
                <a:gridCol w="2560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论文文字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既有 S1R 主线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独立 `_01`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当前判断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网格/样本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32³ / 1000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32³ / 1000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32³ / 1000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层数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 / batch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 / 32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 / 有效32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 / 有效32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学习率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1e-4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1e-4→2e-6 cosine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固定1e-4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S1R非原文显式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Trunk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空间坐标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网格间距常数通道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位置坐标(mm)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S1R不忠实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输出归一化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各分量local max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输入RMS导出尺度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目标逐样本逐分量max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_01更字面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通道数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未给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base=32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base=32 ASSUMED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无法证明一致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实/复数与相位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未给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实余弦、零相位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实余弦、零相位 ASSUMED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必须假设</a:t>
                      </a:r>
                      <a:endParaRPr lang="en-US" sz="9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来源：docs/paper/paper_text.txt；phase1_full_run.py；_01/paper_contract.json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方法审视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现在回头看：这些偏离理由还合理吗？</a:t>
            </a:r>
            <a:endParaRPr lang="en-US" sz="2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11155680" cy="443484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474720"/>
                <a:gridCol w="2834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偏离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当时理由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现在评价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Cosine降学习率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提高后期稳定性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工程合理，但不能叫原文配置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_01固定1e-4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间距常数作Trunk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直接告诉网络尺度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可能利于缩放，但丢失绝对位置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_01改位置坐标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输入RMS归一化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可逆，在线时不需真值尺度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工程必要性强，但与原文字面不同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两条线分开报告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硬PEC状态投影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严格满足导体边界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物理合理，但梯度路径不等价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做损失前投影对照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严格R&lt;1e-5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控制长期误差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比论文9.6e-3严很多，速度不可横比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论文阈值另线诊断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5532120"/>
            <a:ext cx="103327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5532120"/>
            <a:ext cx="64008" cy="5943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56418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07A35"/>
                </a:solidFill>
              </a:rPr>
              <a:t>结论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78992" y="5971032"/>
            <a:ext cx="10040112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746"/>
                </a:solidFill>
              </a:rPr>
              <a:t>这些选择大多是“可辩护的工程选择”，但不能继续混称为“作者配置”；因此建立 `_01` 独立参考线。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来源：_01/paper_contract.json；PEC run #301；现有 S1R 配置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指标与训练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归一化为什么会改变问题本身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3246120" cy="356616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43000"/>
            <a:ext cx="64008" cy="35661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2527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论文文字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" y="1581912"/>
            <a:ext cx="2953512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“U-net output was normalized by the local maximum for each component.”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字面理解需要目标 curl 的局部最大值。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1143000"/>
            <a:ext cx="3246120" cy="356616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143000"/>
            <a:ext cx="64008" cy="35661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2527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主线实现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45152" y="1581912"/>
            <a:ext cx="2953512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用输入场 RMS 和网格尺度构造可逆尺度。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优点：在线推理不需要知道答案。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75320" y="1143000"/>
            <a:ext cx="3246120" cy="356616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5320" y="1143000"/>
            <a:ext cx="64008" cy="35661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9912" y="12527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`_01` 参考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39912" y="1581912"/>
            <a:ext cx="2953512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训练/测试阶段按目标每样本、每分量最大值归一化。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优点：更贴原文字面；缺点：在线去归一化仍不明确。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525780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504D"/>
                </a:solidFill>
              </a:rPr>
              <a:t>这是复现中的核心未知项，而不是一句“归一化不同”可以带过。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Section III-C；src/pidon/dco.py；_01/model.py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指标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四个常见指标回答的是四个不同问题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2606040" cy="448056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97280"/>
            <a:ext cx="64008" cy="44805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07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MSE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1536192"/>
            <a:ext cx="231343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训练目标：逐点平方误差平均。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对大误差敏感；受归一化方式影响。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29000" y="1097280"/>
            <a:ext cx="2606040" cy="448056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097280"/>
            <a:ext cx="64008" cy="448056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1207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Eq.(5) MRE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93592" y="1536192"/>
            <a:ext cx="231343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逐点 |误差|/|真值|；真值为零时用绝对误差。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极易被近零点放大。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63640" y="1097280"/>
            <a:ext cx="2606040" cy="448056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97280"/>
            <a:ext cx="64008" cy="44805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1207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nMAE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28232" y="1536192"/>
            <a:ext cx="231343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746"/>
                </a:solidFill>
              </a:rPr>
              <a:t>某分量所有支撑网格点的平均绝对误差 / 该分量参考峰值。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746"/>
                </a:solidFill>
              </a:rPr>
              <a:t>1%门就是 nMAE≤0.01。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9098280" y="1097280"/>
            <a:ext cx="2606040" cy="448056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1097280"/>
            <a:ext cx="64008" cy="44805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2872" y="1207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relL2 / Q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62872" y="1536192"/>
            <a:ext cx="231343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746"/>
                </a:solidFill>
              </a:rPr>
              <a:t>全域能量范数意义上的相对误差；六分量加权汇总为 Q。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746"/>
                </a:solidFill>
              </a:rPr>
              <a:t>可掩盖局部分量。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来源：paper_protocol.py；field acceptance metric contract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阶段一证据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阶段一已有结果：不能再简单写“未复现”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5146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8A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252728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A67"/>
                </a:solidFill>
              </a:rPr>
              <a:t>旧 DCO / 重建 Fig.5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86384" y="1490472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0.312%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86384" y="189280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宏 nMAE；固定权重零更新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3383280" y="1143000"/>
            <a:ext cx="25146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50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9584" y="1252728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504D"/>
                </a:solidFill>
              </a:rPr>
              <a:t>随机网络 / 同输入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29584" y="1490472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21.33%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29584" y="189280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宏 nMAE；固定随机种子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5146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F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2784" y="1252728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6F93"/>
                </a:solidFill>
              </a:rPr>
              <a:t>S1R 开发集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72784" y="1490472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2.186%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72784" y="189280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1000 epoch，best epoch 970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8869680" y="1143000"/>
            <a:ext cx="25146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15984" y="1252728"/>
            <a:ext cx="2221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A35"/>
                </a:solidFill>
              </a:rPr>
              <a:t>S1R 盲测 32³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015984" y="1490472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4.150%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015984" y="189280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盲测门失败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777240" y="2880360"/>
            <a:ext cx="507492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2880360"/>
            <a:ext cx="64008" cy="201168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299008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可以说什么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1832" y="3319272"/>
            <a:ext cx="478231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至少一个已有 DCO 对声明的解析平面波重建显著优于随机网络，说明学到了非平凡的 curl 映射。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55080" y="2880360"/>
            <a:ext cx="507492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2880360"/>
            <a:ext cx="64008" cy="201168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299008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不能说什么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19672" y="3319272"/>
            <a:ext cx="478231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S1R 的盲测和换网格门没有通过；不能称“完全达到论文泛化水平”。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来源：run #300；SR-COMPARE；S1R summary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阶段一证据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固定权重直接看场：旧 DCO 的 curl 预测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1247120" cy="5257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evidence\briefing_20260917\operator_audit_r1\old_lr1e3_fig5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2869" y="914400"/>
            <a:ext cx="5735782" cy="5257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来源：run #300；Fig.5 参数重建，振幅为固定种子假设；parameter_updates=0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阶段一对照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同样输入下的随机网络：不是“看起来也差不多”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1247120" cy="5257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evidence\briefing_20260917\operator_audit_r1\random_fig5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2869" y="914400"/>
            <a:ext cx="5735782" cy="5257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来源：run #300；固定随机种子；parameter_updates=0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阶段一结论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固定算子实验回答了“DCO有没有学到东西”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2004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8A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207008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A67"/>
                </a:solidFill>
              </a:rPr>
              <a:t>解析平面波宏 nMAE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77824" y="144475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0.312%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7824" y="184708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旧 DCO；零更新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4480560" y="1097280"/>
            <a:ext cx="32004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50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1207008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504D"/>
                </a:solidFill>
              </a:rPr>
              <a:t>随机对照宏 nMAE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26864" y="144475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21.332%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26864" y="184708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同结构；零更新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8229600" y="1097280"/>
            <a:ext cx="32004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1207008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A35"/>
                </a:solidFill>
              </a:rPr>
              <a:t>误差比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75904" y="1444752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68.4×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75904" y="184708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随机 / 旧 DCO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594360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9718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结论 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952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DCO 学到解析 curl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72968" y="34290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401568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01568" y="29718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结论 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66160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不是随机网络偶然输出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80176" y="34290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08776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08776" y="29718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73368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限制 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73368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仅一组重建+既有盲测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787384" y="34290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015984" y="29718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29718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80576" y="30815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限制 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80576" y="34107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不能代表在线腔体输入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14400" y="4846320"/>
            <a:ext cx="102870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4400" y="4846320"/>
            <a:ext cx="64008" cy="8229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8992" y="4956048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6F93"/>
                </a:solidFill>
              </a:rPr>
              <a:t>科学定位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78992" y="5285232"/>
            <a:ext cx="99943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这是“第一阶段算子有效性”的直接诊断证据；它不能自动证明“第二阶段预训练能省成本”。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来源：evidence/briefing_20260917/operator_audit_r1/summary.json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阶段一泛化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换网格泛化：有亮点，但不是全面达到论文</a:t>
            </a:r>
            <a:endParaRPr lang="en-US" sz="25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143000"/>
          <a:ext cx="10972800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2377440"/>
                <a:gridCol w="2377440"/>
                <a:gridCol w="2286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论文 MRE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 paper32 nMAE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S1R blind nMAE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32³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L4: 7.7e-4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2.791e-3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4.150e-2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指标口径不同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64³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4.1e-3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2.875e-3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数据已回传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旧模型较好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64×96×16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3.8e-3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5.687e-3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数据已回传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旧模型略差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32×64×16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4.7e-3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6.266e-3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数据已回传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旧模型略差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4572000"/>
            <a:ext cx="50292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4572000"/>
            <a:ext cx="64008" cy="11430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46817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为什么不能直接比倍数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87552" y="5010912"/>
            <a:ext cx="473659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论文列 Eq.(5) MRE；旧表部分是 nMAE。名称相近但数学定义不同。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4572000"/>
            <a:ext cx="50292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55080" y="4572000"/>
            <a:ext cx="64008" cy="11430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9672" y="46817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正确表述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19672" y="5010912"/>
            <a:ext cx="473659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同口径重测证明模型可在新尺寸前向，但“达到论文精度”仍需同数据同指标。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来源：SR-COMPARE；论文 Table/Section III-D；旧表仅作历史对照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阶段二 Algorithm 1：每个时间步都重新适配 DCO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6400800" cy="530352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Algorith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3865"/>
            <a:ext cx="6400800" cy="45645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69480" y="1097280"/>
            <a:ext cx="42519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269480" y="1097280"/>
            <a:ext cx="64008" cy="11430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34072" y="12070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预训练初始化 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34072" y="1536192"/>
            <a:ext cx="395935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H/E 网络从阶段一 DCO 权重开始。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69480" y="2606040"/>
            <a:ext cx="42519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269480" y="2606040"/>
            <a:ext cx="64008" cy="114300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34072" y="271576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随机初始化 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434072" y="3044952"/>
            <a:ext cx="395935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同结构 H/E 网络从固定随机权重开始。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269480" y="4114800"/>
            <a:ext cx="42519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269480" y="4114800"/>
            <a:ext cx="64008" cy="13258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34072" y="42245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比较对象是谁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434072" y="4553712"/>
            <a:ext cx="395935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初始化的是“本时间推进中要反复训练的两个 curl 网络参数”，不是 E/H 场本身。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 Algorithm 1 截图；当前 Solver._make_net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阶段二逐步过程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一个完整时间步，代码实际做六件事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430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5272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① 训练 H-net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58191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拟合当前 curl(H) 目标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08704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37304" y="114300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37304" y="11430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1896" y="125272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② 更新 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01896" y="158191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Ampère 离散式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851648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080248" y="114300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80248" y="11430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4840" y="125272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③ 加源+PEC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44840" y="158191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硬源与切向E置零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301752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01752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312724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④ 训练 E-net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8952" y="345643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拟合当前 curl(E) 目标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08704" y="347472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337304" y="301752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37304" y="301752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01896" y="312724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⑤ 投影 curlE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01896" y="345643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法向边界面置零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851648" y="347472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080248" y="301752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80248" y="301752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44840" y="312724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⑥ 更新 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44840" y="345643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Faraday 离散式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14400" y="4983480"/>
            <a:ext cx="102870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4400" y="4983480"/>
            <a:ext cx="64008" cy="77724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8992" y="5093208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C9504D"/>
                </a:solidFill>
              </a:rPr>
              <a:t>“无监督”的含义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78992" y="5422392"/>
            <a:ext cx="9994392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网络不读取 Yee 真值场作为训练标签；训练目标由当前 E/H 和 Maxwell 离散关系内部生成。Yee 只在验收时作独立参考。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来源：src/pidon/pidon_solve.py；论文 Algorithm 1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阶段二逐步过程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半步 A：由当前 H 构造训练目标并更新 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926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64008" cy="123444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当前状态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2633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Hⁿ⁺¹ᐟ² 的六个 Yee 支撑数组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2926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143000"/>
            <a:ext cx="64008" cy="123444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物理目标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36592" y="1581912"/>
            <a:ext cx="2633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离散 curl(H)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由当前场直接计算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1143000"/>
            <a:ext cx="2926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1143000"/>
            <a:ext cx="64008" cy="123444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H-net 输出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85632" y="1581912"/>
            <a:ext cx="2633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预测 curl(H)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优化至残差门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66160" y="1755648"/>
            <a:ext cx="100584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98080" y="1755648"/>
            <a:ext cx="82296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60120" y="28803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B55"/>
                </a:solidFill>
              </a:rPr>
              <a:t>Eⁿ⁺¹ = Eⁿ + Δt ε⁻¹ [curl(Hⁿ⁺¹ᐟ²) − J]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94360" y="3886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8862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995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网络输出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8952" y="4325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不是直接输出E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72968" y="43434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401568" y="3886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01568" y="38862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3995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时间更新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66160" y="4325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材料参数ε与Δt仍显式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80176" y="43434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208776" y="3886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08776" y="38862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73368" y="3995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源项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73368" y="4325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J或硬源另行施加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787384" y="43434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015984" y="3886200"/>
            <a:ext cx="2551176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15984" y="38862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80576" y="3995928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边界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80576" y="4325112"/>
            <a:ext cx="22585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更新后应用PEC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来源：pidon_solve.py: fit H → update E → source → apply_pec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阶段二逐步过程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半步 B：由更新后的 E 训练另一个网络并更新 H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926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64008" cy="123444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更新后状态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2633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Eⁿ⁺¹ 已包含源与 PEC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2926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143000"/>
            <a:ext cx="64008" cy="123444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E-net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36592" y="1581912"/>
            <a:ext cx="2633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预测 curl(Eⁿ⁺¹)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优化至残差门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1143000"/>
            <a:ext cx="2926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1143000"/>
            <a:ext cx="64008" cy="123444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1252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边界投影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85632" y="1581912"/>
            <a:ext cx="2633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curl-E 三分量的法向边界面置零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66160" y="1755648"/>
            <a:ext cx="100584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98080" y="1755648"/>
            <a:ext cx="822960" cy="0"/>
          </a:xfrm>
          <a:prstGeom prst="line">
            <a:avLst/>
          </a:prstGeom>
          <a:noFill/>
          <a:ln w="2540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60120" y="28803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B55"/>
                </a:solidFill>
              </a:rPr>
              <a:t>Hⁿ⁺³ᐟ² = Hⁿ⁺¹ᐟ² − Δt μ⁻¹ curl(Eⁿ⁺¹)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4400" y="4069080"/>
            <a:ext cx="102870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069080"/>
            <a:ext cx="64008" cy="11430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4178808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两个网络为什么都要训练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78992" y="4507992"/>
            <a:ext cx="999439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一个拟合 H→curl(H)，另一个拟合 E→curl(E)；它们输入分布、单位尺度和时间相位不同，因此当前实现分开维护。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来源：pidon_solve.py: fit E → _insert_prediction(E) → update H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PEC 边界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论文说“边界在 loss 中”，但具体文字其实是先置零再回传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4937760" cy="48006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汇报素材\PEC边界条件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26334"/>
            <a:ext cx="4937760" cy="20681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1097280"/>
            <a:ext cx="52578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89320" y="1097280"/>
            <a:ext cx="64008" cy="141732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53912" y="120700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论文原文操作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153912" y="1536192"/>
            <a:ext cx="496519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将 PEC 上预测的切向分量设为 0，然后计算 Eq.(7) 损失并反向传播。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89320" y="2788920"/>
            <a:ext cx="52578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89320" y="2788920"/>
            <a:ext cx="64008" cy="141732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53912" y="289864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当前生产操作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153912" y="3227832"/>
            <a:ext cx="496519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更新 E 后对场做切向硬投影；另对 curl-E 输出的法向边界面做投影。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989320" y="4480560"/>
            <a:ext cx="52578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89320" y="4480560"/>
            <a:ext cx="64008" cy="105156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53912" y="459028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审计结论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153912" y="4919472"/>
            <a:ext cx="496519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746"/>
                </a:solidFill>
              </a:rPr>
              <a:t>都严格满足边界，但对象与梯度路径未证明等价。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来源：论文边界段落；run #301；汇报素材/PEC边界条件.png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PEC 边界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当前 PEC 掩码具体清零哪些自由度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960120"/>
            <a:ext cx="6583680" cy="5029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evidence\briefing_20260917\pec_audit\pec_tangential_m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459736"/>
            <a:ext cx="6583680" cy="20299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52360" y="1143000"/>
            <a:ext cx="38862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52360" y="1143000"/>
            <a:ext cx="64008" cy="109728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16952" y="12527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Ex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616952" y="1581912"/>
            <a:ext cx="359359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746"/>
                </a:solidFill>
              </a:rPr>
              <a:t>在 y、z 法向的四个 PEC 面上为切向分量。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52360" y="2606040"/>
            <a:ext cx="38862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52360" y="2606040"/>
            <a:ext cx="64008" cy="109728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16952" y="27157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A7A3"/>
                </a:solidFill>
              </a:rPr>
              <a:t>Ey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616952" y="3044952"/>
            <a:ext cx="359359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746"/>
                </a:solidFill>
              </a:rPr>
              <a:t>在 x、z 法向的四个 PEC 面上为切向分量。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52360" y="4069080"/>
            <a:ext cx="38862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52360" y="4069080"/>
            <a:ext cx="64008" cy="109728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16952" y="41788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Ez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616952" y="4507992"/>
            <a:ext cx="359359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746"/>
                </a:solidFill>
              </a:rPr>
              <a:t>在 x、y 法向的四个 PEC 面上为切向分量。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来源：run #301；生产 apply_pec 直接调用审计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PEC 边界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投影放在 loss 前还是场更新后，梯度并不相同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960120"/>
            <a:ext cx="5669280" cy="49834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evidence\briefing_20260917\pec_audit\projection_gradient_sup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57375"/>
            <a:ext cx="5669280" cy="31889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20840" y="1143000"/>
            <a:ext cx="4526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20840" y="1143000"/>
            <a:ext cx="64008" cy="141732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85432" y="125272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Loss 前投影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85432" y="1581912"/>
            <a:ext cx="42336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被掩码自由度梯度为 0；网络不会被这些位置的误差驱动。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720840" y="2926080"/>
            <a:ext cx="4526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20840" y="2926080"/>
            <a:ext cx="64008" cy="141732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85432" y="303580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Loss 后改场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885432" y="3364992"/>
            <a:ext cx="42336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746"/>
                </a:solidFill>
              </a:rPr>
              <a:t>训练时仍可能收到边界误差梯度，只是更新状态时强制满足 PEC。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720840" y="4709160"/>
            <a:ext cx="45262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20840" y="4709160"/>
            <a:ext cx="64008" cy="8229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85432" y="4818888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下一步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885432" y="5148072"/>
            <a:ext cx="423367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43746"/>
                </a:solidFill>
              </a:rPr>
              <a:t>在同一短轨迹上做计算图对照，不直接改主线旧失败。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来源：run #301 toy-autograd + production source hash audit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训练目标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阶段二所谓“无监督”：不用 Yee 场训练，但仍有物理目标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3200400" cy="35661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097280"/>
            <a:ext cx="64008" cy="35661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207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训练时可见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" y="1536192"/>
            <a:ext cx="2907792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当前 E/H 状态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材料参数 ε、μ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离散 curl 目标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源和边界规则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80560" y="1097280"/>
            <a:ext cx="3200400" cy="35661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097280"/>
            <a:ext cx="64008" cy="356616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207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训练时不可见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45152" y="1536192"/>
            <a:ext cx="2907792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Yee-FDTD 参考场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未来时间步真实场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最终频谱答案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75320" y="1097280"/>
            <a:ext cx="3200400" cy="35661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5320" y="1097280"/>
            <a:ext cx="64008" cy="356616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9912" y="1207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验收时使用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39912" y="1536192"/>
            <a:ext cx="2907792" cy="3035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Yee 场只用于独立计算 Q、六分量 nMAE、源外探针和波形。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525780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B55"/>
                </a:solidFill>
              </a:rPr>
              <a:t>因此：Yee 参考算出来并不等于 PI-DON “偷看答案”；它相当于测试集标签。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来源：当前 solver 与 field acceptance audit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实验逻辑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为什么先做 1→4→16→64→128，而不是直接 8192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98973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430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52728"/>
            <a:ext cx="1715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1个半步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581912"/>
            <a:ext cx="169712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目标是否可达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11526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40126" y="1143000"/>
            <a:ext cx="198973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3AA7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40126" y="1143000"/>
            <a:ext cx="64008" cy="914400"/>
          </a:xfrm>
          <a:prstGeom prst="rect">
            <a:avLst/>
          </a:prstGeom>
          <a:solidFill>
            <a:srgbClr val="3AA7A3"/>
          </a:solidFill>
          <a:ln w="12700">
            <a:solidFill>
              <a:srgbClr val="3AA7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04718" y="1252728"/>
            <a:ext cx="1715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A7A3"/>
                </a:solidFill>
              </a:rPr>
              <a:t>4完整步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04718" y="1581912"/>
            <a:ext cx="169712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H/E循环能否闭合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57293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85893" y="1143000"/>
            <a:ext cx="198973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85893" y="114300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0485" y="1252728"/>
            <a:ext cx="1715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16步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0485" y="1581912"/>
            <a:ext cx="169712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短期状态误差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103059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31659" y="1143000"/>
            <a:ext cx="198973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31659" y="114300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6251" y="1252728"/>
            <a:ext cx="1715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64步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6251" y="1581912"/>
            <a:ext cx="169712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首次场门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48826" y="160020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577426" y="1143000"/>
            <a:ext cx="198973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77426" y="114300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42018" y="1252728"/>
            <a:ext cx="17154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128步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742018" y="1581912"/>
            <a:ext cx="169712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分量累积误差</a:t>
            </a:r>
            <a:endParaRPr lang="en-US" sz="9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43200"/>
          <a:ext cx="10332720" cy="246888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5394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成本/结果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3769 Adam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DIAGNOSTIC PASS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10558 Adam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PASS_MICRO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完整通过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PASS_MICRO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全场门通过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PASS_64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128步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残差全过；场门FAIL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Ex/Ey&gt;1%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来源：server_resource_v1 分阶段登记证据；不是把 Adam 更新数当成时间步数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阶段二结果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预训练初始化 P：64 步过门，128 步分量门失败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242316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8A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20700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8A67"/>
                </a:solidFill>
              </a:rPr>
              <a:t>128步残差接受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32104" y="1444752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128/128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32104" y="184708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每个 H/E 拟合均达到 R&lt;1e-5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42316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6F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83864" y="120700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6F93"/>
                </a:solidFill>
              </a:rPr>
              <a:t>总场 Q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83864" y="1444752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3.08%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83864" y="184708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全六分量加权 relL2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5989320" y="1097280"/>
            <a:ext cx="242316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50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35624" y="120700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504D"/>
                </a:solidFill>
              </a:rPr>
              <a:t>Ex nMAE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35624" y="1444752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1.55%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35624" y="184708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严格门 1%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8641080" y="1097280"/>
            <a:ext cx="242316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50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87384" y="1207008"/>
            <a:ext cx="2130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504D"/>
                </a:solidFill>
              </a:rPr>
              <a:t>Ey nMAE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87384" y="1444752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1.63%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787384" y="184708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严格门 1%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868680" y="2880360"/>
            <a:ext cx="498348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2880360"/>
            <a:ext cx="64008" cy="201168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" y="299008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为什么 Q 过而分量不过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33272" y="3319272"/>
            <a:ext cx="469087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Q 把六个分量的能量加权汇总；能量较强且误差较小的分量会稀释 Ex/Ey 的局部平均误差。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55080" y="2880360"/>
            <a:ext cx="498348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2880360"/>
            <a:ext cx="64008" cy="201168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299008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Ex/Ey 超 1% 能否忽略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19672" y="3319272"/>
            <a:ext cx="469087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不能在已登记严格门中忽略；它说明横向电场分量已出现系统偏差，继续递推可能放大。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来源：clean_low_lr128/summary.json；门槛在实验前登记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阶段二对照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预训练 P vs 随机 R：当前没有证明预训练节省成本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6583680" cy="5166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evidence\server_resource_v1\dco_value_review_20260916_r2\pretraining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3020"/>
            <a:ext cx="6583680" cy="4389120"/>
          </a:xfrm>
          <a:prstGeom prst="rect">
            <a:avLst/>
          </a:prstGeom>
        </p:spPr>
      </p:pic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234440"/>
          <a:ext cx="4297680" cy="2194560"/>
        </p:xfrm>
        <a:graphic>
          <a:graphicData uri="http://schemas.openxmlformats.org/drawingml/2006/table">
            <a:tbl>
              <a:tblPr/>
              <a:tblGrid>
                <a:gridCol w="777240"/>
                <a:gridCol w="914400"/>
                <a:gridCol w="822960"/>
                <a:gridCol w="777240"/>
                <a:gridCol w="1097280"/>
                <a:gridCol w="731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初始化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Adam更新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耗时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Q@128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Ex/Ey nMAE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科学门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 预训练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261,209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11,074 s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3.081%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1.549% / 1.631%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FAIL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 随机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159,240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6,837 s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3.133%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1.780% / 1.770%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FAIL</a:t>
                      </a:r>
                      <a:endParaRPr lang="en-US" sz="8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360920" y="3794760"/>
            <a:ext cx="42976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360920" y="3794760"/>
            <a:ext cx="64008" cy="141732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525512" y="39044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可下结论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525512" y="4233672"/>
            <a:ext cx="400507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43746"/>
                </a:solidFill>
              </a:rPr>
              <a:t>在这一条同规则 128 步轨迹上，P 没有显示成本优势；R 反而更快。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360920" y="5394960"/>
            <a:ext cx="42976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60920" y="5394960"/>
            <a:ext cx="64008" cy="566928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25512" y="55046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07A35"/>
                </a:solidFill>
              </a:rPr>
              <a:t>不可外推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7525512" y="5833872"/>
            <a:ext cx="4005072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单一随机种子不能证明预训练永远无用。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来源：dco_value_review_20260916_r2/REPORT.md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分布迁移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关键机制：平面波上很准，到了首个腔体 E 输入却严重失配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6492240" cy="5166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6DE"/>
            </a:solidFill>
            <a:prstDash val="solid"/>
          </a:ln>
        </p:spPr>
      </p:sp>
      <p:pic>
        <p:nvPicPr>
          <p:cNvPr id="5" name="Image 0" descr="C:\PI-DON\evidence\briefing_20260917\operator_audit_r1\old_lr1e3_first_e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025" y="914400"/>
            <a:ext cx="5636029" cy="5166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143000"/>
            <a:ext cx="38862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504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61504" y="1252728"/>
            <a:ext cx="3593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504D"/>
                </a:solidFill>
              </a:rPr>
              <a:t>旧 DCO 首个腔体 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461504" y="1490472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relL2 = 7.12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461504" y="1892808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固定权重，零更新</a:t>
            </a:r>
            <a:endParaRPr lang="en-US" sz="830" dirty="0"/>
          </a:p>
        </p:txBody>
      </p:sp>
      <p:sp>
        <p:nvSpPr>
          <p:cNvPr id="10" name="Shape 7"/>
          <p:cNvSpPr/>
          <p:nvPr/>
        </p:nvSpPr>
        <p:spPr>
          <a:xfrm>
            <a:off x="7315200" y="2606040"/>
            <a:ext cx="3886200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7A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61504" y="2715768"/>
            <a:ext cx="3593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A35"/>
                </a:solidFill>
              </a:rPr>
              <a:t>全局 nMAE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61504" y="2953512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746"/>
                </a:solidFill>
              </a:rPr>
              <a:t>3.01%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61504" y="3355848"/>
            <a:ext cx="3593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87684"/>
                </a:solidFill>
              </a:rPr>
              <a:t>z目标严格为0，分量宏nMAE不可定义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7315200" y="4069080"/>
            <a:ext cx="38862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15200" y="4069080"/>
            <a:ext cx="64008" cy="13716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79792" y="41788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解释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479792" y="4507992"/>
            <a:ext cx="3593592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43746"/>
                </a:solidFill>
              </a:rPr>
              <a:t>硬源产生尖锐、局域、带边界的输入；它与阶段一平滑平面波训练分布完全不同。在线适配是在修复这一迁移。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来源：run #300；current cavity first nonzero E; Yee curl target仅作诊断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研究判断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所以 DCO 的意义需要拆成三个可证伪命题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429000" cy="44805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51560"/>
            <a:ext cx="64008" cy="44805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1612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命题 A：学到算子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490472"/>
            <a:ext cx="313639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固定权重在未参与本轮训练的解析平面波上显著优于随机。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当前：有支持。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70832" y="1051560"/>
            <a:ext cx="3429000" cy="44805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051560"/>
            <a:ext cx="64008" cy="448056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1612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命题 B：省在线成本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35424" y="1490472"/>
            <a:ext cx="313639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相同轨迹、相同门槛下，预训练应更少更新或更短时间。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当前：未支持。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01584" y="1051560"/>
            <a:ext cx="3429000" cy="44805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1584" y="1051560"/>
            <a:ext cx="64008" cy="44805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11612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命题 C：可冻结复用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66176" y="1490472"/>
            <a:ext cx="313639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问题训练完成后冻结网络，应能在后续/相似问题直接推进。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当前：尚未运行。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来源：AGENTS.md 第一条科学红线；当前固定算子与P/R证据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阶段状态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当前状态：不是“毫无进展”，而是证据把问题定位了</a:t>
            </a:r>
            <a:endParaRPr lang="en-US" sz="25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11155680" cy="4892040"/>
        </p:xfrm>
        <a:graphic>
          <a:graphicData uri="http://schemas.openxmlformats.org/drawingml/2006/table">
            <a:tbl>
              <a:tblPr/>
              <a:tblGrid>
                <a:gridCol w="2103120"/>
                <a:gridCol w="4114800"/>
                <a:gridCol w="1828800"/>
                <a:gridCol w="3108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层级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当前结果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能否支持论文主张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阶段一旧 DCO 固定算子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平面波宏nMAE 0.312%，远优于随机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支持局部算子学习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部分支持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阶段一 S1R 盲测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32³ nMAE 4.15%，换网格门失败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FAIL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不支持完整泛化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阶段二残差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P/R 都完成128严格残差步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 delivery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只说明可拟合每步目标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阶段二真实场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P: Q 3.08%，Ex/Ey &gt;1%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严格 FAIL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不支持128场门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预训练收益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P比R多64%更新、慢约62%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FAIL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当前不支持省成本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1024/8192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未获严格资格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NOT_RUN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不得启动</a:t>
                      </a:r>
                      <a:endParaRPr lang="en-US" sz="10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来源：STATUS.md；run #300/#301；dco_value_review_r2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下一步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独立 `_01`：把“论文明确项”和“我们猜的项”拆开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97280"/>
            <a:ext cx="64008" cy="9144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0700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8A67"/>
                </a:solidFill>
              </a:rPr>
              <a:t>EXPLICIT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53619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32³/1000/4层/Adam/1e-4/batch32/1000epoch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08704" y="155448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37304" y="109728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37304" y="1097280"/>
            <a:ext cx="64008" cy="9144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1896" y="120700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6F93"/>
                </a:solidFill>
              </a:rPr>
              <a:t>DERIVED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01896" y="153619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横波约束与解析curl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851648" y="1554480"/>
            <a:ext cx="201168" cy="0"/>
          </a:xfrm>
          <a:prstGeom prst="line">
            <a:avLst/>
          </a:prstGeom>
          <a:noFill/>
          <a:ln w="19050">
            <a:solidFill>
              <a:srgbClr val="68768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080248" y="1097280"/>
            <a:ext cx="34869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80248" y="1097280"/>
            <a:ext cx="64008" cy="9144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4840" y="1207008"/>
            <a:ext cx="3212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07A35"/>
                </a:solidFill>
              </a:rPr>
              <a:t>ASSUMED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44840" y="1536192"/>
            <a:ext cx="319430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43746"/>
                </a:solidFill>
              </a:rPr>
              <a:t>通道数/相位/波数个数/归一化作用域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2743200"/>
            <a:ext cx="33375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6510">
            <a:solidFill>
              <a:srgbClr val="2B6F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2743200"/>
            <a:ext cx="64008" cy="2286000"/>
          </a:xfrm>
          <a:prstGeom prst="rect">
            <a:avLst/>
          </a:prstGeom>
          <a:solidFill>
            <a:srgbClr val="2B6F93"/>
          </a:solidFill>
          <a:ln w="12700">
            <a:solidFill>
              <a:srgbClr val="2B6F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28529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6F93"/>
                </a:solidFill>
              </a:rPr>
              <a:t>改变 1：Trunk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6112" y="3182112"/>
            <a:ext cx="3044952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从网格间距常数通道改为真实空间位置坐标。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434840" y="2743200"/>
            <a:ext cx="33375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0" y="2743200"/>
            <a:ext cx="64008" cy="228600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9432" y="28529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改变 2：学习率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99432" y="3182112"/>
            <a:ext cx="3044952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固定 1e-4，不使用论文未说明的 cosine 调度。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138160" y="2743200"/>
            <a:ext cx="333756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2743200"/>
            <a:ext cx="64008" cy="228600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02752" y="28529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改变 3：归一化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02752" y="3182112"/>
            <a:ext cx="3044952" cy="1755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746"/>
                </a:solidFill>
              </a:rPr>
              <a:t>逐样本、逐输出分量 local max，贴近原文字面。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97280" y="5349240"/>
            <a:ext cx="99669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97280" y="5349240"/>
            <a:ext cx="64008" cy="566928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61872" y="545896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C9504D"/>
                </a:solidFill>
              </a:rPr>
              <a:t>边界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261872" y="5788152"/>
            <a:ext cx="9674352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43746"/>
                </a:solidFill>
              </a:rPr>
              <a:t>`_01` 先只做阶段一；PEC 计算图对照另立短实验，避免一次改变多个机制。</a:t>
            </a:r>
            <a:endParaRPr lang="en-US" sz="970" dirty="0"/>
          </a:p>
        </p:txBody>
      </p:sp>
      <p:sp>
        <p:nvSpPr>
          <p:cNvPr id="34" name="Text 32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来源：_01/paper_contract.json；_01/tests（8 tests PASS）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下一步执行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服务器完整训练合同：这次能明确回答什么</a:t>
            </a:r>
            <a:endParaRPr lang="en-US" sz="25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10927080" cy="448056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4343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证据输出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1000个32³解析平面波；80/20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sample_specs.json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levels，base=32(ASSUMED)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manifest.json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Adam，固定lr=1e-4，有效batch=32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history.jsonl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1000 epoch ≈ 25000参数更新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summary.json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检查点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fresh init；不读旧权重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best.pt / last.pt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每25更新打印epoch、MSE、显存、ETA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实时日志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先做同口径阶段一比较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audit.json / REPORT.md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05840" y="5577840"/>
            <a:ext cx="101955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05840" y="5577840"/>
            <a:ext cx="64008" cy="566928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70432" y="568756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C9504D"/>
                </a:solidFill>
              </a:rPr>
              <a:t>注意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70432" y="6016752"/>
            <a:ext cx="9902952" cy="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43746"/>
                </a:solidFill>
              </a:rPr>
              <a:t>完整训练完成前，`_01` 只能称“实现与预检完成”，不能提前宣称精度复现。</a:t>
            </a:r>
            <a:endParaRPr lang="en-US" sz="970" dirty="0"/>
          </a:p>
        </p:txBody>
      </p:sp>
      <p:sp>
        <p:nvSpPr>
          <p:cNvPr id="9" name="Text 6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来源：server_paper01_bundle.zip；_01/runner.py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结论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汇报结论：现在最值得推进的不是更长，而是更可比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051560"/>
            <a:ext cx="3337560" cy="4480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6510">
            <a:solidFill>
              <a:srgbClr val="2D8A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051560"/>
            <a:ext cx="64008" cy="4480560"/>
          </a:xfrm>
          <a:prstGeom prst="rect">
            <a:avLst/>
          </a:prstGeom>
          <a:solidFill>
            <a:srgbClr val="2D8A67"/>
          </a:solidFill>
          <a:ln w="12700">
            <a:solidFill>
              <a:srgbClr val="2D8A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1612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8A67"/>
                </a:solidFill>
              </a:rPr>
              <a:t>已确认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" y="1490472"/>
            <a:ext cx="304495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1. DCO 可学习非平凡 curl 映射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2. 严格在线残差能连续128步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3. 当前PEC实现物理边界准确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34840" y="1051560"/>
            <a:ext cx="3337560" cy="4480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6510">
            <a:solidFill>
              <a:srgbClr val="C950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051560"/>
            <a:ext cx="64008" cy="4480560"/>
          </a:xfrm>
          <a:prstGeom prst="rect">
            <a:avLst/>
          </a:prstGeom>
          <a:solidFill>
            <a:srgbClr val="C9504D"/>
          </a:solidFill>
          <a:ln w="12700">
            <a:solidFill>
              <a:srgbClr val="C950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1612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C9504D"/>
                </a:solidFill>
              </a:rPr>
              <a:t>未确认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9432" y="1490472"/>
            <a:ext cx="304495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1. 论文训练细节完全一致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2. 预训练降低在线成本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3. 128步六分量场门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4. 1024/8192与频谱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83880" y="1051560"/>
            <a:ext cx="3337560" cy="4480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6510">
            <a:solidFill>
              <a:srgbClr val="E07A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051560"/>
            <a:ext cx="64008" cy="4480560"/>
          </a:xfrm>
          <a:prstGeom prst="rect">
            <a:avLst/>
          </a:prstGeom>
          <a:solidFill>
            <a:srgbClr val="E07A35"/>
          </a:solidFill>
          <a:ln w="12700">
            <a:solidFill>
              <a:srgbClr val="E07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1612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07A35"/>
                </a:solidFill>
              </a:rPr>
              <a:t>下一决策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48472" y="1490472"/>
            <a:ext cx="304495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先跑 `_01` 阶段一并做固定算子/在线首步配对；再决定是改训练分布、边界计算图，还是停止该方向。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来源：本轮所有登记证据与独立参考线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A7A3"/>
                </a:solidFill>
              </a:rPr>
              <a:t>Q&amp;A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B55"/>
                </a:solidFill>
              </a:rPr>
              <a:t>附录：面对导师的快速回答</a:t>
            </a:r>
            <a:endParaRPr lang="en-US" sz="25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11155680" cy="5257800"/>
        </p:xfrm>
        <a:graphic>
          <a:graphicData uri="http://schemas.openxmlformats.org/drawingml/2006/table">
            <a:tbl>
              <a:tblPr/>
              <a:tblGrid>
                <a:gridCol w="2743200"/>
                <a:gridCol w="8412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一句话回答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DCO是不是直接输出时域场？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不是；它输出curl，E/H仍由Maxwell时间更新式推进。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第一阶段有没有边界？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没有腔体边界；是解析平面波算子学习。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第二阶段为什么还训练？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当前场分布含硬源、边界和递推误差，固定平面波DCO迁移很差。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Yee参考是否泄漏？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不进入训练，只用于验收；相当于测试集答案。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为什么总Q过而Ex/Ey不过？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全局能量加权会稀释单分量误差，因此保留分量门。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为何不直接8192？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128严格场门未过，继续只会扩大成本且无法支持科学结论。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DCO还有没有意义？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437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算子学习有证据；在线成本收益仍需更公平的论文显式配对。</a:t>
                      </a:r>
                      <a:endParaRPr lang="en-US" sz="11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336792"/>
            <a:ext cx="10972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7A8792"/>
                </a:solidFill>
              </a:rPr>
              <a:t>来源：逐页讲稿与项目证据索引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876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PI-DON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PI-DON 论文复现：从旋度算子到时域闭环</dc:title>
  <dc:subject>PI-DON reproduction: electromagnetic theory, DCO operator learning, online adaptation, evidence and next steps</dc:subject>
  <dc:creator>PI-DON reproduction team</dc:creator>
  <cp:lastModifiedBy>PI-DON reproduction team</cp:lastModifiedBy>
  <cp:revision>1</cp:revision>
  <dcterms:created xsi:type="dcterms:W3CDTF">2026-09-16T17:10:23Z</dcterms:created>
  <dcterms:modified xsi:type="dcterms:W3CDTF">2026-09-16T17:10:23Z</dcterms:modified>
</cp:coreProperties>
</file>